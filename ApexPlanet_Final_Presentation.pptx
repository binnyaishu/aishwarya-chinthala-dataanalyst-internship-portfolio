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Revenue Share by Category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D5AA6"/>
              </a:solidFill>
              <a:effectLst/>
            </c:spPr>
          </c:dPt>
          <c:dPt>
            <c:idx val="2"/>
            <c:bubble3D val="0"/>
            <c:spPr>
              <a:solidFill>
                <a:srgbClr val="6E8FD0"/>
              </a:solidFill>
              <a:effectLst/>
            </c:spPr>
          </c:dPt>
          <c:dPt>
            <c:idx val="3"/>
            <c:bubble3D val="0"/>
            <c:spPr>
              <a:solidFill>
                <a:srgbClr val="9FB3DE"/>
              </a:solidFill>
              <a:effectLst/>
            </c:spPr>
          </c:dPt>
          <c:dPt>
            <c:idx val="4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Education</c:v>
                </c:pt>
                <c:pt idx="2">
                  <c:v>Grocery</c:v>
                </c:pt>
                <c:pt idx="3">
                  <c:v>Furniture</c:v>
                </c:pt>
                <c:pt idx="4">
                  <c:v>Fashion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50779</c:v>
                </c:pt>
                <c:pt idx="1">
                  <c:v>25032</c:v>
                </c:pt>
                <c:pt idx="2">
                  <c:v>22232</c:v>
                </c:pt>
                <c:pt idx="3">
                  <c:v>21522</c:v>
                </c:pt>
                <c:pt idx="4">
                  <c:v>19836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mbria"/>
              </a:rPr>
              <a:t>Customers by Segment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D98A2B"/>
              </a:solidFill>
              <a:effectLst/>
            </c:spPr>
          </c:dPt>
          <c:dPt>
            <c:idx val="2"/>
            <c:bubble3D val="0"/>
            <c:spPr>
              <a:solidFill>
                <a:srgbClr val="3D5AA6"/>
              </a:solidFill>
              <a:effectLst/>
            </c:spPr>
          </c:dPt>
          <c:dPt>
            <c:idx val="3"/>
            <c:bubble3D val="0"/>
            <c:spPr>
              <a:solidFill>
                <a:srgbClr val="9FB3DE"/>
              </a:solidFill>
              <a:effectLst/>
            </c:spPr>
          </c:dPt>
          <c:dPt>
            <c:idx val="4"/>
            <c:bubble3D val="0"/>
            <c:spPr>
              <a:solidFill>
                <a:srgbClr val="2E9E6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Loyal / High-Value</c:v>
                </c:pt>
                <c:pt idx="1">
                  <c:v>At Risk (high value, inactive)</c:v>
                </c:pt>
                <c:pt idx="2">
                  <c:v>New / Low-Spend</c:v>
                </c:pt>
                <c:pt idx="3">
                  <c:v>Low Engagement</c:v>
                </c:pt>
                <c:pt idx="4">
                  <c:v>Champions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313</c:v>
                </c:pt>
                <c:pt idx="1">
                  <c:v>122</c:v>
                </c:pt>
                <c:pt idx="2">
                  <c:v>235</c:v>
                </c:pt>
                <c:pt idx="3">
                  <c:v>239</c:v>
                </c:pt>
                <c:pt idx="4">
                  <c:v>38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Decisions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03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Sales Analytics — Final Presentation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60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Internship · Tasks 1-4 Synthesis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41280" y="457200"/>
            <a:ext cx="914400" cy="914400"/>
          </a:xfrm>
          <a:prstGeom prst="ellipse">
            <a:avLst/>
          </a:prstGeom>
          <a:solidFill>
            <a:srgbClr val="3D5AA6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18520" y="1234440"/>
            <a:ext cx="457200" cy="457200"/>
          </a:xfrm>
          <a:prstGeom prst="ellipse">
            <a:avLst/>
          </a:prstGeom>
          <a:solidFill>
            <a:srgbClr val="3D5AA6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5440680"/>
            <a:ext cx="640080" cy="640080"/>
          </a:xfrm>
          <a:prstGeom prst="ellipse">
            <a:avLst/>
          </a:prstGeom>
          <a:solidFill>
            <a:srgbClr val="3D5AA6">
              <a:alpha val="6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asked a simple question: what does our sales data actually tell us — and what should we do about it? This presentation synthesizes four stages of analysis into one validated business narrative.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5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Wrangling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832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1,000 transactions — fixed missing values and a duplicate-ID bug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214884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93592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5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&amp; BI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33832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Electronics drives 36% of revenue via SQL + statistical exploration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2784" y="214884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55664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5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Deep-Dive &amp; Dashboard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33832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revealed where retention effort should focus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214884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17736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5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317736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317736" y="33832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tests proved which patterns are real — and which aren't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61288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Data Wrangling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Foundation: a clean, validated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9344"/>
            <a:ext cx="128016" cy="128016"/>
          </a:xfrm>
          <a:prstGeom prst="ellipse">
            <a:avLst/>
          </a:prstGeom>
          <a:solidFill>
            <a:srgbClr val="3D5A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4813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missing ages, 13 missing cities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8470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transparently, flagged for downstream exclusion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523744"/>
            <a:ext cx="128016" cy="128016"/>
          </a:xfrm>
          <a:prstGeom prst="ellipse">
            <a:avLst/>
          </a:prstGeom>
          <a:solidFill>
            <a:srgbClr val="3D5A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3957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orders sharing one duplicate ID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761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Reassigned unique IDs — each was a genuinely distinct sale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438144"/>
            <a:ext cx="128016" cy="128016"/>
          </a:xfrm>
          <a:prstGeom prst="ellipse">
            <a:avLst/>
          </a:prstGeom>
          <a:solidFill>
            <a:srgbClr val="3D5A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3101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rows validated end-to-end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6758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nulls, zero duplicate keys, totals reconciled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06640" y="1554480"/>
            <a:ext cx="4206240" cy="274320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06640" y="1828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2606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rows, zero nulls,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duplicate keys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3383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Analysis-ready output that every subsequent step depends 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EDA &amp; Business Intelligence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revealed once it was clean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7373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D5AA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63640" y="1609344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= 36.4% of total revenue from just 2 products (Mobile, Laptop)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0" y="26517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D5AA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263640" y="2523744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 shows ~zero correlation with spend (r ≈ 0.00) across every measure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0" y="3566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D5AA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63640" y="3438144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has the highest average order value of any city (₹153,882)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D5AA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63640" y="4352544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across a normalized 3-table database answered 7 business questions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61288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Core KPIs Defined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metrics chosen to track revenue, customer value, and customer health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647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₹1,39,399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414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60020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34640" y="17647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₹1,47,201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4414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(proxy)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160020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0" y="17647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5.5%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4414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60020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06640" y="17647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47.4%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24414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Top-20% Revenue Share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92640" y="160020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92640" y="17647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36.4%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24414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Contribution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five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794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AOV &amp; CLV: are we growing via more customers or bigger baskets?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06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Repeat Purchase Rate: is this business acquisition- or loyalty-driven?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617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Revenue Concentration: how dependent are we on top spenders?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Category Contribution: are we over-reliant on one product line?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61288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Deep-Dive: Customer Segmentation (RFM)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947 customers scored on Recency, Frequency, and Monetary value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846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54480"/>
          <a:ext cx="6035040" cy="2377440"/>
        </p:xfrm>
        <a:graphic>
          <a:graphicData uri="http://schemas.openxmlformats.org/drawingml/2006/table">
            <a:tbl>
              <a:tblPr/>
              <a:tblGrid>
                <a:gridCol w="1508760"/>
                <a:gridCol w="1508760"/>
                <a:gridCol w="1508760"/>
                <a:gridCol w="150876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Customers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Revenue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Spend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Loyal / High-Value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33.1%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53.5%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₹238,194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At Risk (high value, inactive)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12.9%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19.9%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₹227,923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New / Low-Spend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24.8%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9.1%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₹53,737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Low Engagement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25.2%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8.8%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₹51,543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Champions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8.7%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₹318,186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577840" y="416052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FBF1E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806440" y="4279392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122 “At Risk” customers have proven high spend (₹227,923 avg) but haven't ordered in ~316 days — the highest-ROI win-back target.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161288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Live Interactive Dashboard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City, Category, Segment, and Gender — built for stakeholders to self-serve</a:t>
            </a:r>
            <a:endParaRPr lang="en-US" sz="1300" dirty="0"/>
          </a:p>
        </p:txBody>
      </p:sp>
      <p:pic>
        <p:nvPicPr>
          <p:cNvPr id="4" name="Image 0" descr="/home/claude/task4/dashboard_screen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1371600"/>
            <a:ext cx="923544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recommending action, we pressure-tested the “obvious” assumptions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hypotheses  ·  t-test, chi-squared, ANOVA  ·  p-values &amp; confidence intervals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61288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 Results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1828800"/>
        </p:xfrm>
        <a:graphic>
          <a:graphicData uri="http://schemas.openxmlformats.org/drawingml/2006/table">
            <a:tbl>
              <a:tblPr/>
              <a:tblGrid>
                <a:gridCol w="5029200"/>
                <a:gridCol w="2560320"/>
                <a:gridCol w="164592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Hypothesis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Gender affects Average Order Value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Welch's t-test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0.495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8A2B"/>
                          </a:solidFill>
                        </a:rPr>
                        <a:t>Not significant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City is associated with Category preference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Chi-squared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0.207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8A2B"/>
                          </a:solidFill>
                        </a:rPr>
                        <a:t>Not significant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Unit Price differs across Categories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One-way ANOVA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0.836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8A2B"/>
                          </a:solidFill>
                        </a:rPr>
                        <a:t>Not significant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383280"/>
            <a:ext cx="11064240" cy="2651760"/>
          </a:xfrm>
          <a:prstGeom prst="roundRect">
            <a:avLst>
              <a:gd name="adj" fmla="val 3448"/>
            </a:avLst>
          </a:prstGeom>
          <a:solidFill>
            <a:srgbClr val="CADCF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3611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0690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tests came back statistically non-significant (p &gt; 0.05).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genuinely useful result — it means gender, city, and category-level pricing are </a:t>
            </a:r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 differentiators of customer spending in this data.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together with the RFM segmentation (Step 3), the evidence consistently points to one conclusion: purchasing behavior here is explained by customer engagement patterns — recency and spend history — not by demographics or geography.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61288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258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concentrated, not fragile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91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 of customers generate 47.4% of revenue — significant, but not extreme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514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Retention, not acquisition, is the gap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880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5.5% of customers are repeat buyers; 122 “At Risk” customers represent ~₹2.78Cr in dormant revenue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7033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don't predict spend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0690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city, and category pricing all failed statistical significance tests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937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892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wins on volume, not price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2578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of revenue comes from more orders, not premium pricing (Hypothesis 3)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61288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to Action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73270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320040" cy="32004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716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win-back campaign targeting the 122 “At Risk” customers — highest-ROI recovery opportunity identified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73270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633472"/>
            <a:ext cx="320040" cy="32004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633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915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retention program for “Loyal / High-Value” customers (313 people, 53.5% of revenue)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346704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73270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621024"/>
            <a:ext cx="320040" cy="32004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621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46704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invest in gender- or city-based targeting — not statistically supported by this data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334256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73270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608576"/>
            <a:ext cx="320040" cy="32004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6085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34256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5 core KPIs monthly via the live dashboard to catch shifts early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321808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73270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596128"/>
            <a:ext cx="320040" cy="32004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596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32180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Electronics volume growth (promotions, stock, ad spend) over price changes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61288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analysis, code, and live dashboard available on GitHub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2026-09-02T03:47:38Z</dcterms:created>
  <dcterms:modified xsi:type="dcterms:W3CDTF">2026-09-02T03:47:38Z</dcterms:modified>
</cp:coreProperties>
</file>